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8686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F3D6B"/>
                </a:solidFill>
              </a:defRPr>
            </a:pPr>
            <a:r>
              <a:t>SMART INDIA HACKATHON 2026</a:t>
            </a:r>
          </a:p>
        </p:txBody>
      </p:sp>
      <p:pic>
        <p:nvPicPr>
          <p:cNvPr id="3" name="Picture 2" descr="sih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182880"/>
            <a:ext cx="1737360" cy="82022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05156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200">
                <a:solidFill>
                  <a:srgbClr val="0F172A"/>
                </a:solidFill>
              </a:defRPr>
            </a:pPr>
            <a:r>
              <a:t>TITLE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69494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350">
                <a:solidFill>
                  <a:srgbClr val="0F172A"/>
                </a:solidFill>
              </a:rPr>
              <a:t>• Problem Statement ID – </a:t>
            </a:r>
            <a:r>
              <a:rPr b="1" sz="1350">
                <a:solidFill>
                  <a:srgbClr val="D97706"/>
                </a:solidFill>
              </a:rPr>
              <a:t>SIH26014</a:t>
            </a:r>
          </a:p>
          <a:p>
            <a:pPr>
              <a:spcAft>
                <a:spcPts val="1200"/>
              </a:spcAft>
            </a:pPr>
            <a:r>
              <a:rPr b="1" sz="1350">
                <a:solidFill>
                  <a:srgbClr val="0F172A"/>
                </a:solidFill>
              </a:rPr>
              <a:t>• Problem Statement Title- </a:t>
            </a:r>
            <a:r>
              <a:rPr b="1" sz="1350">
                <a:solidFill>
                  <a:srgbClr val="0F3D6B"/>
                </a:solidFill>
              </a:rPr>
              <a:t>BhoomiShield: Pan-India AI Land Record Governance, Cadastral GIS Mapping &amp; Multi-Jurisdictional Fraud Prevention Engine</a:t>
            </a:r>
          </a:p>
          <a:p>
            <a:pPr>
              <a:spcAft>
                <a:spcPts val="1200"/>
              </a:spcAft>
            </a:pPr>
            <a:r>
              <a:rPr b="1" sz="1350">
                <a:solidFill>
                  <a:srgbClr val="0F172A"/>
                </a:solidFill>
              </a:rPr>
              <a:t>• Theme- </a:t>
            </a:r>
            <a:r>
              <a:rPr b="1" sz="1350">
                <a:solidFill>
                  <a:srgbClr val="0F172A"/>
                </a:solidFill>
              </a:rPr>
              <a:t>Smart Governance / Digital India / Land Administration Modernization</a:t>
            </a:r>
          </a:p>
          <a:p>
            <a:pPr>
              <a:spcAft>
                <a:spcPts val="1200"/>
              </a:spcAft>
            </a:pPr>
            <a:r>
              <a:rPr b="1" sz="1350">
                <a:solidFill>
                  <a:srgbClr val="0F172A"/>
                </a:solidFill>
              </a:rPr>
              <a:t>• PS Category- Software/Hardware </a:t>
            </a:r>
            <a:r>
              <a:rPr b="1" sz="1350">
                <a:solidFill>
                  <a:srgbClr val="2563EB"/>
                </a:solidFill>
              </a:rPr>
              <a:t>Software</a:t>
            </a:r>
          </a:p>
          <a:p>
            <a:pPr>
              <a:spcAft>
                <a:spcPts val="1200"/>
              </a:spcAft>
            </a:pPr>
            <a:r>
              <a:rPr b="1" sz="1350">
                <a:solidFill>
                  <a:srgbClr val="0F172A"/>
                </a:solidFill>
              </a:rPr>
              <a:t>• Team ID- </a:t>
            </a:r>
            <a:r>
              <a:rPr b="1" sz="1350">
                <a:solidFill>
                  <a:srgbClr val="0F172A"/>
                </a:solidFill>
              </a:rPr>
              <a:t>2404921540161</a:t>
            </a:r>
          </a:p>
          <a:p>
            <a:pPr>
              <a:spcAft>
                <a:spcPts val="1200"/>
              </a:spcAft>
            </a:pPr>
            <a:r>
              <a:rPr b="1" sz="1350">
                <a:solidFill>
                  <a:srgbClr val="0F172A"/>
                </a:solidFill>
              </a:rPr>
              <a:t>• Team Name (Registered on portal) </a:t>
            </a:r>
            <a:r>
              <a:rPr b="1" sz="1350">
                <a:solidFill>
                  <a:srgbClr val="D97706"/>
                </a:solidFill>
              </a:rPr>
              <a:t>TEAM AGNI (Leader: Priyanshu kumar yadav)</a:t>
            </a:r>
          </a:p>
        </p:txBody>
      </p:sp>
      <p:pic>
        <p:nvPicPr>
          <p:cNvPr id="6" name="Picture 5" descr="brain_bulb_clean_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554480"/>
            <a:ext cx="3291840" cy="498316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228600"/>
            <a:ext cx="1645920" cy="9601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0F3D6B"/>
                </a:solidFill>
              </a:defRPr>
            </a:pPr>
            <a:r>
              <a:t>TEAM</a:t>
            </a:r>
          </a:p>
          <a:p>
            <a:pPr algn="ctr">
              <a:defRPr b="1" sz="1300">
                <a:solidFill>
                  <a:srgbClr val="D97706"/>
                </a:solidFill>
              </a:defRPr>
            </a:pPr>
            <a:r>
              <a:t>AGNI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03120" y="228600"/>
            <a:ext cx="795527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2100">
                <a:solidFill>
                  <a:srgbClr val="0F172A"/>
                </a:solidFill>
              </a:defRPr>
            </a:pPr>
            <a:r>
              <a:t>BHOOMISHIELD: PAN-INDIA LAND RECORD AI &amp; GOVERNANCE PLATFORM</a:t>
            </a:r>
          </a:p>
        </p:txBody>
      </p:sp>
      <p:pic>
        <p:nvPicPr>
          <p:cNvPr id="4" name="Picture 3" descr="sih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82880"/>
            <a:ext cx="1600200" cy="75546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E6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@SIH Idea submission- Template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005696"/>
                </a:solidFill>
              </a:defRPr>
            </a:pPr>
            <a:r>
              <a:t>❖ Proposed Solution (Describe your Idea/Solution/Prototype)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474720" cy="4617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3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800"/>
              </a:spcAft>
              <a:defRPr b="1" sz="1150">
                <a:solidFill>
                  <a:srgbClr val="0F3D6B"/>
                </a:solidFill>
              </a:defRPr>
            </a:pPr>
            <a:r>
              <a:t>• Detailed Explanation of Proposed Solution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</a:rPr>
              <a:t>✔ Unified Pan-India Aggregation:</a:t>
            </a:r>
            <a:r>
              <a:rPr sz="950">
                <a:solidFill>
                  <a:srgbClr val="475569"/>
                </a:solidFill>
              </a:rPr>
              <a:t> Standardizes fragmented state land data (Khatian, RoR, Register-II, Jamabandi, Deeds, Mutation logs) into an interoperable ULPIN canonical schema.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</a:rPr>
              <a:t>✔ Interactive Cadastral GIS &amp; Location Search:</a:t>
            </a:r>
            <a:r>
              <a:rPr sz="950">
                <a:solidFill>
                  <a:srgbClr val="475569"/>
                </a:solidFill>
              </a:rPr>
              <a:t> Instant 1-click parcel lookup by GPS coordinates, satellite boundary polygons, Khata/Plot number, or owner name.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</a:rPr>
              <a:t>✔ Bhoomi Vault &amp; Authority Portal:</a:t>
            </a:r>
            <a:r>
              <a:rPr sz="950">
                <a:solidFill>
                  <a:srgbClr val="475569"/>
                </a:solidFill>
              </a:rPr>
              <a:t> Secure citizen repository for land deeds and tax receipts paired with real-time revenue officer mutation &amp; dispute dashboards.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45920"/>
            <a:ext cx="3474720" cy="4617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800"/>
              </a:spcAft>
              <a:defRPr b="1" sz="1150">
                <a:solidFill>
                  <a:srgbClr val="D97706"/>
                </a:solidFill>
              </a:defRPr>
            </a:pPr>
            <a:r>
              <a:t>• How It Addresses the Problem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</a:rPr>
              <a:t>✔ Eliminates Portal Fragmentation:</a:t>
            </a:r>
            <a:r>
              <a:rPr sz="950">
                <a:solidFill>
                  <a:srgbClr val="475569"/>
                </a:solidFill>
              </a:rPr>
              <a:t> Replaces 30+ disparate regional portals with a centralized, unified intelligent query and verification interface.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</a:rPr>
              <a:t>✔ Prevents Fraudulent Resales:</a:t>
            </a:r>
            <a:r>
              <a:rPr sz="950">
                <a:solidFill>
                  <a:srgbClr val="475569"/>
                </a:solidFill>
              </a:rPr>
              <a:t> Instantly flags unmutated deeds, pending bank mortgages, and active civil court stay orders before financial transaction.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</a:rPr>
              <a:t>✔ Protects Tribal &amp; Protected Land:</a:t>
            </a:r>
            <a:r>
              <a:rPr sz="950">
                <a:solidFill>
                  <a:srgbClr val="475569"/>
                </a:solidFill>
              </a:rPr>
              <a:t> Enforces statutory tenancy regulations (e.g. CNT/SPT Act, UP Revenue Code §98, Karnataka PTCL) preventing illegal land alienation.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645920"/>
            <a:ext cx="3474720" cy="4617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800"/>
              </a:spcAft>
              <a:defRPr b="1" sz="1150">
                <a:solidFill>
                  <a:srgbClr val="10B981"/>
                </a:solidFill>
              </a:defRPr>
            </a:pPr>
            <a:r>
              <a:t>• Innovation and Uniqueness of Solution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</a:rPr>
              <a:t>✔ Deterministic 0–100 AI Risk Engine:</a:t>
            </a:r>
            <a:r>
              <a:rPr sz="950">
                <a:solidFill>
                  <a:srgbClr val="475569"/>
                </a:solidFill>
              </a:rPr>
              <a:t> Heuristic rule-based scoring (R001–R007) ensuring transparent, fully explainable risk factors with zero hallucination.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</a:rPr>
              <a:t>✔ Multilingual Voice Legal Assistant:</a:t>
            </a:r>
            <a:r>
              <a:rPr sz="950">
                <a:solidFill>
                  <a:srgbClr val="475569"/>
                </a:solidFill>
              </a:rPr>
              <a:t> Conversational legal aid and dispute drafting in 11 Indian regional languages for high rural accessibility.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</a:rPr>
              <a:t>✔ Cryptographic SHA-256 Audit Trail:</a:t>
            </a:r>
            <a:r>
              <a:rPr sz="950">
                <a:solidFill>
                  <a:srgbClr val="475569"/>
                </a:solidFill>
              </a:rPr>
              <a:t> Generates QR-coded official Land Health Certificates verifying textual &amp; spatial consistency across state archives.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228600"/>
            <a:ext cx="1645920" cy="9601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0F3D6B"/>
                </a:solidFill>
              </a:defRPr>
            </a:pPr>
            <a:r>
              <a:t>TEAM</a:t>
            </a:r>
          </a:p>
          <a:p>
            <a:pPr algn="ctr">
              <a:defRPr b="1" sz="1300">
                <a:solidFill>
                  <a:srgbClr val="D97706"/>
                </a:solidFill>
              </a:defRPr>
            </a:pPr>
            <a:r>
              <a:t>AGNI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03120" y="228600"/>
            <a:ext cx="795527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2100">
                <a:solidFill>
                  <a:srgbClr val="0F172A"/>
                </a:solidFill>
              </a:defRPr>
            </a:pPr>
            <a:r>
              <a:t>TECHNICAL APPROACH</a:t>
            </a:r>
          </a:p>
        </p:txBody>
      </p:sp>
      <p:pic>
        <p:nvPicPr>
          <p:cNvPr id="4" name="Picture 3" descr="sih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82880"/>
            <a:ext cx="1600200" cy="75546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E6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@SIH Idea submission- Template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5120640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3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600"/>
              </a:spcAft>
              <a:defRPr b="1" sz="1200">
                <a:solidFill>
                  <a:srgbClr val="0F3D6B"/>
                </a:solidFill>
              </a:defRPr>
            </a:pPr>
            <a:r>
              <a:t>• Technologies to be used (e.g. languages, frameworks, hardware)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2563EB"/>
                </a:solidFill>
              </a:rPr>
              <a:t>▪ Frontend Application: </a:t>
            </a:r>
            <a:r>
              <a:rPr sz="950">
                <a:solidFill>
                  <a:srgbClr val="0F172A"/>
                </a:solidFill>
              </a:rPr>
              <a:t>React 18, TypeScript, Vite, Tailwind CSS, Lucide Icons, Mobile Responsive PWA architecture.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2563EB"/>
                </a:solidFill>
              </a:rPr>
              <a:t>▪ Backend &amp; Microservices: </a:t>
            </a:r>
            <a:r>
              <a:rPr sz="950">
                <a:solidFill>
                  <a:srgbClr val="0F172A"/>
                </a:solidFill>
              </a:rPr>
              <a:t>FastAPI (Python 3.11+), Asynchronous REST Endpoints, Uvicorn, Pydantic v2 validation.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2563EB"/>
                </a:solidFill>
              </a:rPr>
              <a:t>▪ Cadastral GIS &amp; Spatial: </a:t>
            </a:r>
            <a:r>
              <a:rPr sz="950">
                <a:solidFill>
                  <a:srgbClr val="0F172A"/>
                </a:solidFill>
              </a:rPr>
              <a:t>Leaflet.js, Esri Satellite Imagery, OpenStreetMap, Point-in-Polygon (Ray Casting) &amp; Turf.js / Shapely.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2563EB"/>
                </a:solidFill>
              </a:rPr>
              <a:t>▪ Database &amp; Hashing: </a:t>
            </a:r>
            <a:r>
              <a:rPr sz="950">
                <a:solidFill>
                  <a:srgbClr val="0F172A"/>
                </a:solidFill>
              </a:rPr>
              <a:t>SQLite / PostgreSQL with Spatial Indexing, Document Store, Cryptographic SHA-256 integrity checks.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2563EB"/>
                </a:solidFill>
              </a:rPr>
              <a:t>▪ AI &amp; Multilingual NLP: </a:t>
            </a:r>
            <a:r>
              <a:rPr sz="950">
                <a:solidFill>
                  <a:srgbClr val="0F172A"/>
                </a:solidFill>
              </a:rPr>
              <a:t>Custom 7-Rule Deterministic Risk Engine, Speech Recognition API &amp; Web Speech Synthesis (11 Indian Languages).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2563EB"/>
                </a:solidFill>
              </a:rPr>
              <a:t>▪ Report Generation: </a:t>
            </a:r>
            <a:r>
              <a:rPr sz="950">
                <a:solidFill>
                  <a:srgbClr val="0F172A"/>
                </a:solidFill>
              </a:rPr>
              <a:t>ReportLab Automated PDF Engine with dynamic QR Code verification &amp; bilingual summaries.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325880"/>
            <a:ext cx="5394960" cy="49377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600"/>
              </a:spcAft>
              <a:defRPr b="1" sz="1200">
                <a:solidFill>
                  <a:srgbClr val="D97706"/>
                </a:solidFill>
              </a:defRPr>
            </a:pPr>
            <a:r>
              <a:t>• Methodology &amp; Process for Implementation (Working Prototype)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0F3D6B"/>
                </a:solidFill>
              </a:rPr>
              <a:t>▶ Step 1: Multi-State Ingestion Pipeline
</a:t>
            </a:r>
            <a:r>
              <a:rPr sz="950">
                <a:solidFill>
                  <a:srgbClr val="0F172A"/>
                </a:solidFill>
              </a:rPr>
              <a:t>State land portals (e.g. Jharbhoomi, Bhulekh UP, Mahabhumi, BanglarBhumi) ingested into canonical schema matching ULPIN standard.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0F3D6B"/>
                </a:solidFill>
              </a:rPr>
              <a:t>▶ Step 2: Cadastral Polygon &amp; Location Binding
</a:t>
            </a:r>
            <a:r>
              <a:rPr sz="950">
                <a:solidFill>
                  <a:srgbClr val="0F172A"/>
                </a:solidFill>
              </a:rPr>
              <a:t>Associates survey numbers with GIS polygon geometries. Live GPS / click queries locate parcel boundaries on satellite map.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0F3D6B"/>
                </a:solidFill>
              </a:rPr>
              <a:t>▶ Step 3: Multi-Layer Deterministic Risk Engine
</a:t>
            </a:r>
            <a:r>
              <a:rPr sz="950">
                <a:solidFill>
                  <a:srgbClr val="0F172A"/>
                </a:solidFill>
              </a:rPr>
              <a:t>Evaluates R001 (Owner Mismatch), R002 (Area Variance), R003 (Missing Geo), R004/R005 (Mutation SLA), R006 (Deed Mismatch), R007 (Court Litigation).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0F3D6B"/>
                </a:solidFill>
              </a:rPr>
              <a:t>▶ Step 4: Bhoomi Vault &amp; Citizen Governance
</a:t>
            </a:r>
            <a:r>
              <a:rPr sz="950">
                <a:solidFill>
                  <a:srgbClr val="0F172A"/>
                </a:solidFill>
              </a:rPr>
              <a:t>Citizens securely upload land records; officials triage grievances; real-time tamper-proof PDF audit certificates generated instantly.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228600"/>
            <a:ext cx="1645920" cy="9601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0F3D6B"/>
                </a:solidFill>
              </a:defRPr>
            </a:pPr>
            <a:r>
              <a:t>TEAM</a:t>
            </a:r>
          </a:p>
          <a:p>
            <a:pPr algn="ctr">
              <a:defRPr b="1" sz="1300">
                <a:solidFill>
                  <a:srgbClr val="D97706"/>
                </a:solidFill>
              </a:defRPr>
            </a:pPr>
            <a:r>
              <a:t>AGNI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03120" y="228600"/>
            <a:ext cx="795527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2100">
                <a:solidFill>
                  <a:srgbClr val="0F172A"/>
                </a:solidFill>
              </a:defRPr>
            </a:pPr>
            <a:r>
              <a:t>FEASIBILITY AND VIABILITY</a:t>
            </a:r>
          </a:p>
        </p:txBody>
      </p:sp>
      <p:pic>
        <p:nvPicPr>
          <p:cNvPr id="4" name="Picture 3" descr="sih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82880"/>
            <a:ext cx="1600200" cy="75546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E6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@SIH Idea submission- Template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3474720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3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800"/>
              </a:spcAft>
              <a:defRPr b="1" sz="1150">
                <a:solidFill>
                  <a:srgbClr val="0F3D6B"/>
                </a:solidFill>
              </a:defRPr>
            </a:pPr>
            <a:r>
              <a:t>• Analysis of the Feasibility of the Idea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</a:rPr>
              <a:t>✔ Deterministic 0–100 AI Risk Engine:</a:t>
            </a:r>
            <a:r>
              <a:rPr sz="950">
                <a:solidFill>
                  <a:srgbClr val="475569"/>
                </a:solidFill>
              </a:rPr>
              <a:t> Heuristic rule-based scoring (R001–R007) ensuring transparent, fully explainable risk factors with zero hallucination.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</a:rPr>
              <a:t>✔ Multilingual Voice Legal Assistant:</a:t>
            </a:r>
            <a:r>
              <a:rPr sz="950">
                <a:solidFill>
                  <a:srgbClr val="475569"/>
                </a:solidFill>
              </a:rPr>
              <a:t> Conversational legal aid and dispute drafting in 11 Indian regional languages for high rural accessibility.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</a:rPr>
              <a:t>✔ Cryptographic SHA-256 Audit Trail:</a:t>
            </a:r>
            <a:r>
              <a:rPr sz="950">
                <a:solidFill>
                  <a:srgbClr val="475569"/>
                </a:solidFill>
              </a:rPr>
              <a:t> Generates QR-coded official Land Health Certificates verifying textual &amp; spatial consistency across state archives.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325880"/>
            <a:ext cx="3474720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800"/>
              </a:spcAft>
              <a:defRPr b="1" sz="1150">
                <a:solidFill>
                  <a:srgbClr val="D97706"/>
                </a:solidFill>
              </a:defRPr>
            </a:pPr>
            <a:r>
              <a:t>• Potential Challenges and Risks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</a:rPr>
              <a:t>✔ Deterministic 0–100 AI Risk Engine:</a:t>
            </a:r>
            <a:r>
              <a:rPr sz="950">
                <a:solidFill>
                  <a:srgbClr val="475569"/>
                </a:solidFill>
              </a:rPr>
              <a:t> Heuristic rule-based scoring (R001–R007) ensuring transparent, fully explainable risk factors with zero hallucination.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</a:rPr>
              <a:t>✔ Multilingual Voice Legal Assistant:</a:t>
            </a:r>
            <a:r>
              <a:rPr sz="950">
                <a:solidFill>
                  <a:srgbClr val="475569"/>
                </a:solidFill>
              </a:rPr>
              <a:t> Conversational legal aid and dispute drafting in 11 Indian regional languages for high rural accessibility.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</a:rPr>
              <a:t>✔ Cryptographic SHA-256 Audit Trail:</a:t>
            </a:r>
            <a:r>
              <a:rPr sz="950">
                <a:solidFill>
                  <a:srgbClr val="475569"/>
                </a:solidFill>
              </a:rPr>
              <a:t> Generates QR-coded official Land Health Certificates verifying textual &amp; spatial consistency across state archives.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325880"/>
            <a:ext cx="3474720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800"/>
              </a:spcAft>
              <a:defRPr b="1" sz="1150">
                <a:solidFill>
                  <a:srgbClr val="10B981"/>
                </a:solidFill>
              </a:defRPr>
            </a:pPr>
            <a:r>
              <a:t>• Strategies for Overcoming These Challenges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</a:rPr>
              <a:t>✔ Deterministic 0–100 AI Risk Engine:</a:t>
            </a:r>
            <a:r>
              <a:rPr sz="950">
                <a:solidFill>
                  <a:srgbClr val="475569"/>
                </a:solidFill>
              </a:rPr>
              <a:t> Heuristic rule-based scoring (R001–R007) ensuring transparent, fully explainable risk factors with zero hallucination.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</a:rPr>
              <a:t>✔ Multilingual Voice Legal Assistant:</a:t>
            </a:r>
            <a:r>
              <a:rPr sz="950">
                <a:solidFill>
                  <a:srgbClr val="475569"/>
                </a:solidFill>
              </a:rPr>
              <a:t> Conversational legal aid and dispute drafting in 11 Indian regional languages for high rural accessibility.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</a:rPr>
              <a:t>✔ Cryptographic SHA-256 Audit Trail:</a:t>
            </a:r>
            <a:r>
              <a:rPr sz="950">
                <a:solidFill>
                  <a:srgbClr val="475569"/>
                </a:solidFill>
              </a:rPr>
              <a:t> Generates QR-coded official Land Health Certificates verifying textual &amp; spatial consistency across state archives.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228600"/>
            <a:ext cx="1645920" cy="9601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0F3D6B"/>
                </a:solidFill>
              </a:defRPr>
            </a:pPr>
            <a:r>
              <a:t>TEAM</a:t>
            </a:r>
          </a:p>
          <a:p>
            <a:pPr algn="ctr">
              <a:defRPr b="1" sz="1300">
                <a:solidFill>
                  <a:srgbClr val="D97706"/>
                </a:solidFill>
              </a:defRPr>
            </a:pPr>
            <a:r>
              <a:t>AGNI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03120" y="228600"/>
            <a:ext cx="795527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2100">
                <a:solidFill>
                  <a:srgbClr val="0F172A"/>
                </a:solidFill>
              </a:defRPr>
            </a:pPr>
            <a:r>
              <a:t>IMPACT AND BENEFITS</a:t>
            </a:r>
          </a:p>
        </p:txBody>
      </p:sp>
      <p:pic>
        <p:nvPicPr>
          <p:cNvPr id="4" name="Picture 3" descr="sih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82880"/>
            <a:ext cx="1600200" cy="75546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E6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@SIH Idea submission- Template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5120640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3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600"/>
              </a:spcAft>
              <a:defRPr b="1" sz="1300">
                <a:solidFill>
                  <a:srgbClr val="0F3D6B"/>
                </a:solidFill>
              </a:defRPr>
            </a:pPr>
            <a:r>
              <a:t>• Potential Impact on the Target Audience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2563EB"/>
                </a:solidFill>
              </a:rPr>
              <a:t>👥 Citizens &amp; Rural Farmers: </a:t>
            </a:r>
            <a:r>
              <a:rPr sz="950">
                <a:solidFill>
                  <a:srgbClr val="0F172A"/>
                </a:solidFill>
              </a:rPr>
              <a:t>Prevents fraudulent land dispossession, unauthorized transfers, and opaque broker commissions with instant verified ownership history.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2563EB"/>
                </a:solidFill>
              </a:rPr>
              <a:t>👥 Property Buyers &amp; Developers: </a:t>
            </a:r>
            <a:r>
              <a:rPr sz="950">
                <a:solidFill>
                  <a:srgbClr val="0F172A"/>
                </a:solidFill>
              </a:rPr>
              <a:t>Conducts instantaneous 360° title due-diligence, mortgage checks, and litigation status before capital investment.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2563EB"/>
                </a:solidFill>
              </a:rPr>
              <a:t>👥 Banks &amp; Financial Institutions: </a:t>
            </a:r>
            <a:r>
              <a:rPr sz="950">
                <a:solidFill>
                  <a:srgbClr val="0F172A"/>
                </a:solidFill>
              </a:rPr>
              <a:t>Accelerates loan origination and mortgage collateral verification from weeks to seconds while reducing non-performing assets.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2563EB"/>
                </a:solidFill>
              </a:rPr>
              <a:t>👥 Revenue Officers &amp; Administration: </a:t>
            </a:r>
            <a:r>
              <a:rPr sz="950">
                <a:solidFill>
                  <a:srgbClr val="0F172A"/>
                </a:solidFill>
              </a:rPr>
              <a:t>Provides automated SLA tracking for pending mutation files, grievance analytics, and rapid dispute resolution workflows.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325880"/>
            <a:ext cx="5394960" cy="49377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600"/>
              </a:spcAft>
              <a:defRPr b="1" sz="1300">
                <a:solidFill>
                  <a:srgbClr val="10B981"/>
                </a:solidFill>
              </a:defRPr>
            </a:pPr>
            <a:r>
              <a:t>• Benefits of the Solution (Social, Economic, Environmental)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0F3D6B"/>
                </a:solidFill>
              </a:rPr>
              <a:t>🌟 Social Equity &amp; Tenancy Protection
</a:t>
            </a:r>
            <a:r>
              <a:rPr sz="950">
                <a:solidFill>
                  <a:srgbClr val="0F172A"/>
                </a:solidFill>
              </a:rPr>
              <a:t>Safeguards tribal and marginalized farmers under CNT/SPT Acts and UP Revenue Code §98; democratizes legal literacy across rural Bharat.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0F3D6B"/>
                </a:solidFill>
              </a:rPr>
              <a:t>🌟 Economic Acceleration
</a:t>
            </a:r>
            <a:r>
              <a:rPr sz="950">
                <a:solidFill>
                  <a:srgbClr val="0F172A"/>
                </a:solidFill>
              </a:rPr>
              <a:t>Unlocks locked economic capital in disputed land parcels; directly targets India's 66% civil court land litigation backlog.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0F3D6B"/>
                </a:solidFill>
              </a:rPr>
              <a:t>🌟 Environmental &amp; Wetland Protection
</a:t>
            </a:r>
            <a:r>
              <a:rPr sz="950">
                <a:solidFill>
                  <a:srgbClr val="0F172A"/>
                </a:solidFill>
              </a:rPr>
              <a:t>Cadastral satellite overlay automatically identifies illegal encroachments on forest land, waterbodies (Jalasay), and flood plains.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0F3D6B"/>
                </a:solidFill>
              </a:rPr>
              <a:t>🌟 Governance Transparency
</a:t>
            </a:r>
            <a:r>
              <a:rPr sz="950">
                <a:solidFill>
                  <a:srgbClr val="0F172A"/>
                </a:solidFill>
              </a:rPr>
              <a:t>End-to-end cryptographic audit trails (SHA-256) eliminate document tampering and backdated mutation entries.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228600"/>
            <a:ext cx="1645920" cy="9601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0F3D6B"/>
                </a:solidFill>
              </a:defRPr>
            </a:pPr>
            <a:r>
              <a:t>TEAM</a:t>
            </a:r>
          </a:p>
          <a:p>
            <a:pPr algn="ctr">
              <a:defRPr b="1" sz="1300">
                <a:solidFill>
                  <a:srgbClr val="D97706"/>
                </a:solidFill>
              </a:defRPr>
            </a:pPr>
            <a:r>
              <a:t>AGNI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03120" y="228600"/>
            <a:ext cx="795527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2100">
                <a:solidFill>
                  <a:srgbClr val="0F172A"/>
                </a:solidFill>
              </a:defRPr>
            </a:pPr>
            <a:r>
              <a:t>RESEARCH AND REFERENCES</a:t>
            </a:r>
          </a:p>
        </p:txBody>
      </p:sp>
      <p:pic>
        <p:nvPicPr>
          <p:cNvPr id="4" name="Picture 3" descr="sih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82880"/>
            <a:ext cx="1600200" cy="75546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E6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@SIH Idea submission- Template 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10698480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3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spcAft>
                <a:spcPts val="800"/>
              </a:spcAft>
              <a:defRPr b="1" sz="1350">
                <a:solidFill>
                  <a:srgbClr val="0F3D6B"/>
                </a:solidFill>
              </a:defRPr>
            </a:pPr>
            <a:r>
              <a:t>• Details / Links of the Reference and Research Work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2563EB"/>
                </a:solidFill>
              </a:rPr>
              <a:t>1. Digital India Land Records Modernization Programme (DILRMP)
</a:t>
            </a:r>
            <a:r>
              <a:rPr sz="900">
                <a:solidFill>
                  <a:srgbClr val="0F172A"/>
                </a:solidFill>
              </a:rPr>
              <a:t>Department of Land Resources (DoLR), Ministry of Rural Development, Government of India.
Framework for computerization of land records, cadastral map digitization, and survey integration.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2563EB"/>
                </a:solidFill>
              </a:rPr>
              <a:t>2. Unique Land Parcel Identification Number (ULPIN) / Bhu-Aadhaar Guidelines (2021-2024)
</a:t>
            </a:r>
            <a:r>
              <a:rPr sz="900">
                <a:solidFill>
                  <a:srgbClr val="0F172A"/>
                </a:solidFill>
              </a:rPr>
              <a:t>National standards for assigning 14-digit alphanumeric geo-referenced identification to each land parcel across India.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2563EB"/>
                </a:solidFill>
              </a:rPr>
              <a:t>3. Statutory State Revenue Acts &amp; Tenancy Codes Studied
</a:t>
            </a:r>
            <a:r>
              <a:rPr sz="900">
                <a:solidFill>
                  <a:srgbClr val="0F172A"/>
                </a:solidFill>
              </a:rPr>
              <a:t>• Chota Nagpur Tenancy Act (CNT), 1908 &amp; Santhal Parganas Tenancy Act (SPT), 1949 (Jharkhand)
• Uttar Pradesh Revenue Code, 2006 (Section 98 - Tenancy Restrictions &amp; Mutation SLAs)
• Maharashtra Land Revenue Code (MLRC), 1966 &amp; Karnataka PTCL Act, 1978
• Real Estate (Regulation and Development) Act (RERA), 2016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2563EB"/>
                </a:solidFill>
              </a:rPr>
              <a:t>4. NITI Aayog Report on Land Governance in India &amp; Judicial Reforms
</a:t>
            </a:r>
            <a:r>
              <a:rPr sz="900">
                <a:solidFill>
                  <a:srgbClr val="0F172A"/>
                </a:solidFill>
              </a:rPr>
              <a:t>Research findings on title verification bottlenecks, land dispute litigation resolution, and automated conclusive titling systems.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2563EB"/>
                </a:solidFill>
              </a:rPr>
              <a:t>5. Open-Source Implementation &amp; Live Prototype Repository
</a:t>
            </a:r>
            <a:r>
              <a:rPr sz="900">
                <a:solidFill>
                  <a:srgbClr val="0F172A"/>
                </a:solidFill>
              </a:rPr>
              <a:t>• GitHub Codebase: https://github.com/Zainul9142/Land-Record-Handling
• Modules Deployed: Multi-State Ingestion Pipeline, Cadastral GIS Leaflet Map, 7-Rule Heuristic Engine, 11-Language Multilingual Localization, Citizen Bhoomi Vault &amp; Official Officer Portal.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