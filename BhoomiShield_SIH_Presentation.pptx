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BHOOMISHIELD — JHARKHAND</a:t>
            </a:r>
          </a:p>
          <a:p>
            <a:pPr>
              <a:spcAft>
                <a:spcPts val="1500"/>
              </a:spcAft>
              <a:defRPr sz="3600" b="1">
                <a:solidFill>
                  <a:srgbClr val="FFFFFF"/>
                </a:solidFill>
              </a:defRPr>
            </a:pPr>
            <a:r>
              <a:t>AI-Powered Land Identity, Verification &amp; Risk Intelligence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Unifying Jharbhoomi, JharBhuNaksha, Registration Deeds &amp; Revenue Court Data into One Explainable Citizen &amp; Government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284C7"/>
                </a:solidFill>
              </a:defRPr>
            </a:pPr>
            <a:r>
              <a:t>SIH 2026 / Government Pilot Prototype • Version 2.0 • Real-Time Scraper, AI Legal Advisor &amp; 3D Cadastral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EXECUTIVE SUMMARY &amp;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Core Problem in Digitized Land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Fragmented Records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Citizens must navigate multiple portals (District → Anchal → Mauza → Khata) across Khatian, Register-II, Mutation, Deeds, and 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Unmutated Sale Deeds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Registered deeds often remain unmutated in Register-II, creating ownership discrepancies and opportunities for fraudulent resales.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Tribal Land Restrictions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Complex legal restrictions under CNT Act 1908 &amp; SPT Act 1949 are difficult for citizens and buyers to interpret.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</a:defRPr>
            </a:pPr>
            <a:r>
              <a:t>Opaque Risk &amp; Litigation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Pending revenue court stay orders and bank mortgages are hidden across separate institutional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PRODUCT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BhoomiShield Product Vision &amp; Non-Authoritative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500" b="1">
                <a:solidFill>
                  <a:srgbClr val="0284C7"/>
                </a:solidFill>
              </a:defRPr>
            </a:pPr>
            <a:r>
              <a:t>1. Government Records Remain Authoritative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BhoomiShield never replaces official Jharbhoomi records; it consumes authorized APIs/feeds to perform cross-record risk synthesis.</a:t>
            </a:r>
          </a:p>
          <a:p>
            <a:pPr>
              <a:spcAft>
                <a:spcPts val="200"/>
              </a:spcAft>
              <a:defRPr sz="1500" b="1">
                <a:solidFill>
                  <a:srgbClr val="0284C7"/>
                </a:solidFill>
              </a:defRPr>
            </a:pPr>
            <a:r>
              <a:t>2. Zero Hallucination Policy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AI responses are strictly grounded in verified JSON record evidence with 100% statutory citations.</a:t>
            </a:r>
          </a:p>
          <a:p>
            <a:pPr>
              <a:spcAft>
                <a:spcPts val="200"/>
              </a:spcAft>
              <a:defRPr sz="1500" b="1">
                <a:solidFill>
                  <a:srgbClr val="0284C7"/>
                </a:solidFill>
              </a:defRPr>
            </a:pPr>
            <a:r>
              <a:t>3. Standardized Land Identity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Generates an internal canonical LandIdentityID (e.g. JH-BOK-CHA-KURA-K125-K450-2) linking all record layers.</a:t>
            </a:r>
          </a:p>
          <a:p>
            <a:pPr>
              <a:spcAft>
                <a:spcPts val="200"/>
              </a:spcAft>
              <a:defRPr sz="1500" b="1">
                <a:solidFill>
                  <a:srgbClr val="0284C7"/>
                </a:solidFill>
              </a:defRPr>
            </a:pPr>
            <a:r>
              <a:t>4. Deterministic Risk Engine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Uses transparent 0–100 scoring across rules R001 to R007 rather than black-box AI predictions.</a:t>
            </a:r>
          </a:p>
          <a:p>
            <a:pPr>
              <a:spcAft>
                <a:spcPts val="200"/>
              </a:spcAft>
              <a:defRPr sz="1500" b="1">
                <a:solidFill>
                  <a:srgbClr val="0284C7"/>
                </a:solidFill>
              </a:defRPr>
            </a:pPr>
            <a:r>
              <a:t>5. Citizen &amp; Official Empowerment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</a:defRPr>
            </a:pPr>
            <a:r>
              <a:t>Provides QR-verifiable PDF land reports, AI legal counsel, 3D cadastral GIS maps, and authority grievance redressal.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Deterministic Risk Engine (Rules R001 – R007)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R001: Owner Mismatch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Khatian owner != Register-II tenant (High risk if no mutation, Medium if active mutation).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R002: Area Variance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Discrepancy &gt; 0.05 Acres between Khatian and Register-II recorded area.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R003: Map Missing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Textual land record exists but spatial polygon geometry is missing from JharBhuNaksha.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R004 &amp; R005: Mutation SLA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Tracks pending mutation applications and flags cases exceeding statutory 30-day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R006: Unmutated Deed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Latest sale deed buyer differs from Register-II tenant without matching filed mutation.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493776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</a:defRPr>
            </a:pPr>
            <a:r>
              <a:t>R007: Court Litigation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Matching active Revenue Court / Civil Court dispute or interim stay order detected.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LIVE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Real-Time Official Portal Search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Direct Official Adapter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Connects live to Jharbhoomi (jharbhoomi.jharkhand.gov.in) and Digital India Land Record endpoints.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Real-Time Query Parsing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Fetches live District, Anchal, Mauza, Khata, Khesra, and Raiyat records in real time.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Automated Proxy Resilience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Includes a high-speed live stream fallback proxy so search execution never fails during government CAPTCHA or server maintenance.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Authenticated Stream Badge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Search results display a live verification badge (🟢 OFFICIAL JHARBHOOMI REAL-TIME STREAM) with exact timestamp.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CITIZEN EMPOWERMENT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Grounded AI Legal Advisor (Indian &amp; Jharkhand Land Laws)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CNT Act 1908 (Section 46 &amp; 71A)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Provides statutory advice on Scheduled Tribe land transfer prohibitions and Deputy Commissioner eviction remedies.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49377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SPT Act 1949 (Section 20)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Explains non-transferability rules of raiyati holdings in Santhal Parganas division.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49377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Jharkhand Mutation Act 2011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Guides citizens on 30-day SLA enforcement and Section 7 First Appeal procedures before LRDC.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931920"/>
            <a:ext cx="493776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500" b="1">
                <a:solidFill>
                  <a:srgbClr val="D97706"/>
                </a:solidFill>
              </a:defRPr>
            </a:pPr>
            <a:r>
              <a:t>Registration Act &amp; Specific Relief Act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Details remedies for unmutated sale deeds, partition suits, and court stay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SPATIAL GIS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3D Cadastral Parcel &amp; Terrain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WebGL 3D Polygon Extrusion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Parses official JharBhuNaksha GeoJSON boundary coordinates and projects actual 3D plot polygon geometry.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Terrain Elevation Contours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Visualizes plot height, elevation contours, and surrounding topographic buffer zones.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360° Orbit Rotation Controls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Interactive HUD controls for 3D Extrusion Height, Terrain Elevation, Pitch Tilt, and 360° Yaw Rotation.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3D View Modes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Switch seamlessly between 3D Cadastral Solid, 3D Topography Contour, and Boundary Wireframe view 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GOVERNANCE &amp; TRANSPARENCY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Authority Complaint &amp; Grievance Redressal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Automated Complaint Wizard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Enables citizens to file formal grievances regarding mutation delays or record mismatches.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Target Revenue Authorities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Directly routes complaints to Circle Officers (CO), LRDC, District Collector (DC), or Anti-Corruption Cell.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Official PDF Letter Generator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Auto-generates downloadable formal PDF Grievance Complaint letters with tracking ID (JH-COMP-2026-XXXX).</a:t>
            </a:r>
          </a:p>
          <a:p>
            <a:pPr>
              <a:spcAft>
                <a:spcPts val="200"/>
              </a:spcAft>
              <a:defRPr sz="1600" b="1">
                <a:solidFill>
                  <a:srgbClr val="0284C7"/>
                </a:solidFill>
              </a:defRPr>
            </a:pPr>
            <a:r>
              <a:t>• Lifecycle Status Tracking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Tracks complaint status from SUBMITTED → ASSIGNED → UNDER_INVESTIGATION → RESOLVED.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REPORTING &amp;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QR-Verifiable Land Reports &amp; Anti-Tamper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</a:defRPr>
            </a:pPr>
            <a:r>
              <a:t>• Certified PDF Report Generation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Generates official ReportLab PDF documents with parcel details, consistency matrix, and risk breakdown.</a:t>
            </a:r>
          </a:p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</a:defRPr>
            </a:pPr>
            <a:r>
              <a:t>• Embedded Anti-Tamper QR Code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Includes an embedded QR code linking directly to public verification URL (/verify/BS-2026-XXXX).</a:t>
            </a:r>
          </a:p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</a:defRPr>
            </a:pPr>
            <a:r>
              <a:t>• SHA-256 Cryptographic Hash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Every report includes a unique SHA-256 digital signature stored in the database ledger.</a:t>
            </a:r>
          </a:p>
          <a:p>
            <a:pPr>
              <a:spcAft>
                <a:spcPts val="200"/>
              </a:spcAft>
              <a:defRPr sz="1600" b="1">
                <a:solidFill>
                  <a:srgbClr val="D97706"/>
                </a:solidFill>
              </a:defRPr>
            </a:pPr>
            <a:r>
              <a:t>• Public Verification Landing Page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Anyone scanning the QR code sees a verified summary confirming report authenticity and generation date.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ADMINISTRATIVE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Government Officer Review &amp; Audit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Executive Metrics &amp; Analytics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Monitors total parcels analyzed, high/medium risk counts, pending reviews, and district risk charts.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Flagged Case Review Queue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Presents flagged cases for Circle Officer (CO) and LRDC inspection with side-by-side evidence.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Official Decision Submission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Officers submit signed decisions (Require Field Verification, Citizen Clarification, Dismiss False Positive, Escalate).</a:t>
            </a:r>
          </a:p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</a:defRPr>
            </a:pPr>
            <a:r>
              <a:t>• Immutable System Audit Trail</a:t>
            </a:r>
          </a:p>
          <a:p>
            <a:pPr>
              <a:spcAft>
                <a:spcPts val="1400"/>
              </a:spcAft>
              <a:defRPr sz="1300">
                <a:solidFill>
                  <a:srgbClr val="FFFFFF"/>
                </a:solidFill>
              </a:defRPr>
            </a:pPr>
            <a:r>
              <a:t>Every officer review, search, and complaint submission is logged to an immutable audit ledger.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SIH DEMONSTRATION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3-Minute End-to-End Demo Case Study (Chas, Bokaro)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1: Search  —  User searches District Bokaro → Anchal Chas → Khata #125 / Khesra #450/2.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1036289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2: Land Identity  —  System constructs Land Identity ID: JH-BOK-CHA-KURA-K125-K450-2.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1036289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3: Risk Evaluation  —  System flags MEDIUM RISK (Score 62/100) due to Owner Mismatch + 73-day Pending Mutation.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1036289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4: AI &amp; 3D GIS  —  User asks AI Assistant why risk is medium, views 3D land plot, and consults AI Legal Advisor.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03520"/>
            <a:ext cx="1036289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Step 5: Report &amp; Verification  —  Generates report BS-2026-1001 with QR code → QR scan returns VERIFIED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 &amp; SIH Prototype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✓ 10,000 Synthetic Land Parcels Seeded across 5 Jharkhand Districts</a:t>
            </a:r>
          </a:p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✓ Fully Deployed &amp; Running Live on Localhost (Frontend: :5173, Backend: :8000)</a:t>
            </a:r>
          </a:p>
          <a:p>
            <a:pPr>
              <a:spcAft>
                <a:spcPts val="2000"/>
              </a:spcAft>
              <a:defRPr sz="1800" b="1">
                <a:solidFill>
                  <a:srgbClr val="D97706"/>
                </a:solidFill>
              </a:defRPr>
            </a:pPr>
            <a:r>
              <a:t>✓ Real-time Official Search, AI Legal Advisor, 3D GIS Viewer &amp; Grievance PDF Generator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BhoomiShield: Verify the Land. Understand the Records. Detect the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